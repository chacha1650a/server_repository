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66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Servlet &amp; JSP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서버의 원리 · Servlet · JSP · Request/Response · 저장소 생명주기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Java로 웹을 만드는 첫 걸음 — Spring의 뿌리를 이해하자!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13232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713232"/>
            <a:ext cx="457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749808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0" y="72237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웹의 동작 원리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88696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클라이언트-서버, HTTP, 정적/동적 페이지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15568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115568"/>
            <a:ext cx="4572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15214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71600" y="112471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Tomcat과 WAS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28930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서버 vs WAS, Tomcat의 역할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1517904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517904"/>
            <a:ext cx="4572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15544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15270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Servlet이란?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169164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Java로 HTTP 요청을 처리하는 클래스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1920240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1920240"/>
            <a:ext cx="4572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195681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71600" y="19293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생명주기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093976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service → destroy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2322576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2322576"/>
            <a:ext cx="4572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" y="2359152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71600" y="2331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JSP란?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249631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안에 Java를 넣는 기술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2724912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2724912"/>
            <a:ext cx="4572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960120" y="2761488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371600" y="27340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vs JSP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289864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분담 — MVC 패턴의 시작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3127248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127248"/>
            <a:ext cx="457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60120" y="3163824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371600" y="3136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HttpServletRequest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371600" y="3300984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클라이언트의 요청 정보를 담은 객체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" y="3529584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3529584"/>
            <a:ext cx="457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960120" y="3566160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9601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371600" y="35387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HttpServletResponse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371600" y="370332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서버의 응답을 구성하는 객체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" y="3931920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31520" y="3931920"/>
            <a:ext cx="4572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3" name="Shape 51"/>
          <p:cNvSpPr/>
          <p:nvPr/>
        </p:nvSpPr>
        <p:spPr>
          <a:xfrm>
            <a:off x="960120" y="3968496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371600" y="39410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방식 — GET vs POST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371600" y="4105656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파라미터 vs Body 데이터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4334256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31520" y="4334256"/>
            <a:ext cx="4572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9" name="Shape 57"/>
          <p:cNvSpPr/>
          <p:nvPr/>
        </p:nvSpPr>
        <p:spPr>
          <a:xfrm>
            <a:off x="960120" y="437083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Text 58"/>
          <p:cNvSpPr/>
          <p:nvPr/>
        </p:nvSpPr>
        <p:spPr>
          <a:xfrm>
            <a:off x="96012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371600" y="43434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저장소와 생명주기 (Scope)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371600" y="4507992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session, application의 범위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1520" y="4736592"/>
            <a:ext cx="768096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31520" y="4736592"/>
            <a:ext cx="4572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5" name="Shape 63"/>
          <p:cNvSpPr/>
          <p:nvPr/>
        </p:nvSpPr>
        <p:spPr>
          <a:xfrm>
            <a:off x="960120" y="477316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6" name="Text 64"/>
          <p:cNvSpPr/>
          <p:nvPr/>
        </p:nvSpPr>
        <p:spPr>
          <a:xfrm>
            <a:off x="960120" y="4773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371600" y="47457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vs Redirect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371600" y="491032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내부 이동 vs 브라우저 재요청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웹의 동작 원리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560320" cy="137160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(브라우저)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8328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HTTP 요청 →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328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② HTTP 응답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1188720"/>
            <a:ext cx="2560320" cy="1371600"/>
          </a:xfrm>
          <a:prstGeom prst="rect">
            <a:avLst/>
          </a:prstGeom>
          <a:solidFill>
            <a:srgbClr val="F9731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(Tomcat)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2926080"/>
            <a:ext cx="3749040" cy="19202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2926080"/>
            <a:ext cx="3749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1"/>
          <p:cNvSpPr/>
          <p:nvPr/>
        </p:nvSpPr>
        <p:spPr>
          <a:xfrm>
            <a:off x="10058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페이지 (Static)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05840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만들어진 HTML 파일을 그대로 전송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사용자에게 동일한 내용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회사 소개 페이지, 이미지, CSS, JS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서버: Apache, Nginx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63440" y="2926080"/>
            <a:ext cx="3749040" cy="19202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4663440" y="292608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5"/>
          <p:cNvSpPr/>
          <p:nvPr/>
        </p:nvSpPr>
        <p:spPr>
          <a:xfrm>
            <a:off x="493776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페이지 (Dynamic)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937760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요청마다 서버에서 HTML을 생성하여 응답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사용자마다 다른 내용 (로그인, 장바구니 등)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로그인 결과, 검색 결과, 마이페이지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서버: Tomcat (Servlet/JSP)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Tomcat과 WAS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783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서버 (Web Server)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(Web Application Server)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정적 자원 제공 (HTML, CSS, 이미지)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동적 자원 생성 (Servlet, JSP 실행)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 방식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파일을 그대로 응답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코드를 실행하여 결과 응답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제품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Apache, 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Tomcat, Jetty, WildFly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보관함에서 꺼내주는 직원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주문받고 요리해서 내어주는 셰프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2926080"/>
            <a:ext cx="7680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2926080"/>
            <a:ext cx="64008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971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= 서블릿 컨테이너 (Servlet Container)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32918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Tomcat의 역할: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HTTP 요청을 받아 적절한 Servlet을 찾아 실행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Servlet에게 Request/Response 객체를 생성하여 전달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Servlet의 실행 결과(HTML)를 클라이언트에게 응답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Servlet의 생명주기(생성, 초기화, 소멸)를 관리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JSP를 Servlet으로 변환하여 실행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Servlet이란?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Java로 HTTP 요청을 처리하고 동적 HTML을 생성하는 서버측 프로그램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3520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7132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@WebServlet("/hello")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HelloServlet extends HttpServlet {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void doGet(HttpServletRequest request,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HttpServletResponse response)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throws ServletException, IOException {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1. 요청에서 데이터 읽기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name = request.getParameter("name");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2. 응답 설정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response.setContentType("text/html; charset=UTF-8");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3. HTML 출력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PrintWriter out = response.getWriter();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out.println("&lt;h1&gt;" + name + "님 환영합니다!&lt;/h1&gt;");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Servlet 생명주기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Tomcat(컨테이너)이 Servlet의 생성부터 소멸까지 관리한다!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20116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생성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(최초 요청 시 1번)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생성자 호출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80" y="12801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280160"/>
            <a:ext cx="201168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초기화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(1번만)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103120"/>
            <a:ext cx="16459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80160"/>
            <a:ext cx="20116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서비스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(요청마다 반복!)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103120"/>
            <a:ext cx="1645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doGet/doPost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12801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28016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371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소멸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(서버 종료 시)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2103120"/>
            <a:ext cx="16459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063240"/>
            <a:ext cx="76809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10896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Servlet 객체는 싱글톤! 최초 요청 시 1번만 생성, 이후 재사용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init()은 생성 직후 1번만 실행 (DB 연결 등 초기화 작업)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service()는 매 요청마다 실행 → HTTP 메서드에 따라 doGet/doPost 호출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destroy()는 서버 종료 또는 웹앱 제거 시 1번 실행 (자원 정리)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멀티스레드: 동시 요청은 하나의 Servlet 인스턴스를 여러 스레드가 공유!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JSP란?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= Java Server Pages — HTML 안에 Java 코드를 삽입하는 기술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167949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7132320" cy="163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&lt;%@ page contentType="text/html;charset=UTF-8" %&gt;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name = request.getParameter("name");</a:t>
            </a:r>
            <a:endParaRPr lang="en-US" sz="10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%&gt;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</a:t>
            </a: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&lt;%= name %&gt;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님 환영합니다!&lt;/h1&gt;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519383"/>
              </p:ext>
            </p:extLst>
          </p:nvPr>
        </p:nvGraphicFramePr>
        <p:xfrm>
          <a:off x="731520" y="3142531"/>
          <a:ext cx="768096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태그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&lt;% %&gt;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스크립틀릿 (Java 코드)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&lt;% int a = 10; %&gt;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&lt;%= %&gt;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표현식 (값 출력)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&lt;%= name %&gt;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&lt;%! %&gt;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선언문 (필드/메서드)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&lt;%! int count = 0; %&gt;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&lt;%@ %&gt;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지시문 (설정)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&lt;%@ page ... %&gt;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${}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(Expression Language)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${user.name}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Servlet vs JSP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4048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형태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클래스 (.java)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파일 (.jsp)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작성 방식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코드 안에 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안에 Java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비즈니스 로직 처리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화면(View) 표현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 (MVC)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(요청 처리)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(화면 출력)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컴파일된 .class 실행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JSP → Servlet 변환 → 실행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셰프 (요리 로직)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접시 (보기 좋게 담기)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56616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566160"/>
            <a:ext cx="64008" cy="1371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패턴 (Model-View-Controller)</a:t>
            </a:r>
            <a:endParaRPr lang="en-US" sz="1400" dirty="0"/>
          </a:p>
        </p:txBody>
      </p:sp>
      <p:sp>
        <p:nvSpPr>
          <p:cNvPr id="5" name="Text 6"/>
          <p:cNvSpPr/>
          <p:nvPr/>
        </p:nvSpPr>
        <p:spPr>
          <a:xfrm>
            <a:off x="1097280" y="3931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+ 비즈니스 로직 (Java 클래스, DAO, Service)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표시 (JSP, HTML)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처리 + Model/View 연결 (Servlet → Spring에서는 @Controller)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HttpServletRequest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클라이언트의 요청 정보를 담은 객체 — Tomcat이 생성하여 Servlet에 전달!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31546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getParameter(name)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 값 1개 조회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request.getParameter("name")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getParameterValues(name)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이름의 값 여러 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체크박스 등 (String[])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getParameterMap()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파라미터 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Map&lt;String, String[]&gt;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setAttribute(key, value)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request에 데이터 저장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request.setAttribute("user", user)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getAttribute(key)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저장된 데이터 조회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request.getAttribute("user")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getMethod()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메서드 (GET/POST)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"GET" or "POST"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getRequestURI()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"/app/hello"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getSession()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HttpSession 객체 획득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request.getSession()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getHeader(name)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헤더 조회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request.getHeader("User-Agent")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setCharacterEncoding()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인코딩 설정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request.setCharacterEncoding("UTF-8")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HttpServletResponse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서버의 응답을 구성하는 객체 — 상태 코드, 헤더, 본문(HTML) 설정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249631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setContentType(type)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응답 MIME 타입 설정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"text/html; charset=UTF-8"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getWriter()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텍스트 출력 스트림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PrintWriter out = resp.getWriter()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setStatus(code)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상태 코드 설정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response.setStatus(200)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sendRedirect(url)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URL로 리다이렉트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response.sendRedirect("/list")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setHeader(name, 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응답 헤더 설정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response.setHeader("Cache", "no")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addCookie(cookie)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쿠키 추가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response.addCookie(new Cookie(...))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setCharacterEncoding()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응답 인코딩 설정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response.setCharacterEncoding("UTF-8")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9319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HTTP 상태 코드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4251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성공  |  </a:t>
            </a: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302 Found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리다이렉트  |  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페이지 없음  |  </a:t>
            </a: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Server Error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서버 오류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vs POST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14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위치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뒤 (?key=value)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Body (숨김)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크기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제한적 (URL 길이 한계)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대용량 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URL에 노출 (비밀번호 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Body에 숨김 (상대적 안전)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브라우저 캐시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캐시 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캐시 안 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조회 (검색, 목록)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전송 (로그인, 등록)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멱등성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멱등 (같은 요청 = 같은 결과)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비멱등 (중복 주문 위험)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 메서드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doGet()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doPost()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657600"/>
            <a:ext cx="768096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70332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— URL에 파라미터 포함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http://localhost:8080/search</a:t>
            </a: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?keyword=java&amp;page=1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— Body에 데이터 (URL에 안 보임)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http://localhost:8080/login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username=kim&amp;password=1234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43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저장소와 생명주기 (Scope)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객체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생명주기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JSP 페이지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1개 페이지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임시 변수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HttpServletRequest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~ 응답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1개 요청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(forward 공유)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데이터 전달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~ 로그아웃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(브라우저 종료 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1명의 사용자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(여러 요청)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정보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장바구니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시작 ~ 종료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사용자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요청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전역 설정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공용 데이터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2834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크기: Page &lt; Request &lt; Session &lt; Application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3154680"/>
            <a:ext cx="7315200" cy="1828800"/>
          </a:xfrm>
          <a:prstGeom prst="rect">
            <a:avLst/>
          </a:prstGeom>
          <a:solidFill>
            <a:srgbClr val="E8F5E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3200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(서버 전체)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88720" y="3429000"/>
            <a:ext cx="676656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(사용자 1명)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463040" y="3703320"/>
            <a:ext cx="6217920" cy="914400"/>
          </a:xfrm>
          <a:prstGeom prst="rect">
            <a:avLst/>
          </a:prstGeom>
          <a:solidFill>
            <a:srgbClr val="FFF3E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(요청 1건)</a:t>
            </a:r>
            <a:endParaRPr lang="en-US" sz="1000" dirty="0"/>
          </a:p>
        </p:txBody>
      </p:sp>
      <p:sp>
        <p:nvSpPr>
          <p:cNvPr id="5" name="Shape 10"/>
          <p:cNvSpPr/>
          <p:nvPr/>
        </p:nvSpPr>
        <p:spPr>
          <a:xfrm>
            <a:off x="1828800" y="3977640"/>
            <a:ext cx="2743200" cy="502920"/>
          </a:xfrm>
          <a:prstGeom prst="rect">
            <a:avLst/>
          </a:prstGeom>
          <a:solidFill>
            <a:srgbClr val="FCE4E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40233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(페이지 1개)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0" y="3977640"/>
            <a:ext cx="29260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0" y="40050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저장: setAttribute(k, v)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조회: getAttribute(k)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Forward vs Redirect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6426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(전달)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 (재요청)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내부에서 다른 자원으로 이동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브라우저에게 새 URL 재요청 지시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변화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변하지 않음 (원래 URL 유지)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URL로 변경됨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공유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request 객체 공유!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새로운 request 생성 (공유 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빠름 (서버 내부 이동)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느림 (브라우저 왕복)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Servlet → JSP (데이터 전달)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후 메인 이동, PRG 패턴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ED7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request.getRequestDispatcher(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"/view.jsp").forward(req, res);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response.sendRedirect("/list");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206240"/>
            <a:ext cx="7680960" cy="7315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4251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전달(request.setAttribute)하며 화면으로 이동 → Forward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완료 후 새 페이지로 이동 (URL 변경 필요) → Redirect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68580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8696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" y="8686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동작 원리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03327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↔ 서버. HTTP 요청/응답. 정적(파일) vs 동적(코드 실행)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27101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71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43000" y="1252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(WAS)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4173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서블릿 컨테이너. Servlet 생명주기 관리, Request/Response 객체 생성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655064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" y="16367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180136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Java로 HTTP 처리. @WebServlet + HttpServlet + doGet/doPost 오버라이딩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03911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3000" y="20208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생명주기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185416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init(1번) → service(매 요청) → destroy(종료). 싱글톤, 멀티스레드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42316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" y="2404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56946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안에 Java. &lt;% %&gt; 스크립틀릿, &lt;%= %&gt; 출력, ${} EL 표현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280720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43000" y="27889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vs JSP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295351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Servlet=Controller(로직), JSP=View(화면). MVC 패턴의 시작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191256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43000" y="31729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객체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33375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getParameter, setAttribute, getSession, getMethod 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3575304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43000" y="35570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객체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" y="372160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setContentType, getWriter, sendRedirect, setStatus 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3959352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43000" y="39410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vs POST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" y="4105656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GET=URL파라미터(조회), POST=Body(전송). doGet/doPost로 구분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434340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" y="4325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Scope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43000" y="44897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&lt; Request &lt; Session &lt; Application. setAttribute/getAttribute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4727448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727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43000" y="4709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vs Redirect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43000" y="487375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Forward=서버 내부(request 공유), Redirect=브라우저 재요청(URL 변경)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Microsoft Office PowerPoint</Application>
  <PresentationFormat>화면 슬라이드 쇼(16:9)</PresentationFormat>
  <Paragraphs>397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Servlet &amp; JSP</dc:title>
  <dc:subject>PptxGenJS Presentation</dc:subject>
  <dc:creator>Korea IT Academy</dc:creator>
  <cp:lastModifiedBy>user</cp:lastModifiedBy>
  <cp:revision>2</cp:revision>
  <dcterms:created xsi:type="dcterms:W3CDTF">2026-04-10T00:29:55Z</dcterms:created>
  <dcterms:modified xsi:type="dcterms:W3CDTF">2026-04-10T00:32:27Z</dcterms:modified>
</cp:coreProperties>
</file>